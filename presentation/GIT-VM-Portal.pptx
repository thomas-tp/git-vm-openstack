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Ouverture. Pitch : une plateforme self-service qui transforme une demande en VM AWS prête, sécurisée et gérée de bout en bout, le tout sur Cloudflare Workers.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 : du besoin à la démo, en passant par l’architecture, le catalogue, la sécurité et le cycle de vie.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problème (gestion manuelle, coûts, sécurité) puis la promesse : self-service + automatisation + sécurité par défaut.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fil rouge en 6 étapes. Chacune sera détaillée ensuite.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Topologie : la SPA parle au Worker ; le Worker porte auth + API + cron, pilote AWS et lit/écrit D1. D1 = état désiré, AWS = état réel, le cron réconcilie.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Mettre en avant le serverless : pas d’infra à patcher, scaling automatique, pipeline de déploiement trivial.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concept d’architecture (ADR 0004). Tout le cycle de vie passe par cette boucle idempotente. Lister les 6 étapes.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VM suit ce cycle. Statuts réels ; « expirée » dérivé. Souligner les garde-fous de coût.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catalogue (presets.ts) est la source de vérité : combinatoire perf×stockage×OS, multi-VM avec groupes, nommage, et bundles d’outils par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rôle formateur est la nouveauté : provisionner des TP entiers. Round-robin + validation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Sauvegarde + restauration via snapshots EBS. Snapshot-avant-suppression et cascade de nettoyage. Choix EBS-only (ADR 0009).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Sécurité “accès” : chaque VM a sa clé/mot de passe, chiffré au repos. Secrets dans Cloudflare. SSO +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couches : in-VM (best-effort) et réseau (Security Group, non contournable). C’est la couche réseau qui garantit le blocage même face à un utilisateur admin de sa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est automatique : inactivité, planning, échéance, garde-fous. L’infra s’auto-gère via le réconciliateur.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Côté admin : une console unifiée pour valider et opérer, la gestion des rôles, l’audit, l’export CSV, et le monitoring 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Déploiement trivial et sûr : une PR mergée déclenche build + migrations + deploy, dans le bon ordre.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Quelques chiffres marquants : catalogue, rôles, capacité de la demande groupée, fréquence du cron, seuils d’automatisation,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démo. Dérouler le parcours dans l’ordre. Plan B : captures si une VM tarde. Astuce : avoir une VM déjà active pour la connexion/snapshot.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: rappeler les 3 mots-clés (self-service, automatisé, sécurisé) et inviter aux questions / à la démo.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12355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383280"/>
            <a:ext cx="4206240" cy="4206240"/>
          </a:xfrm>
          <a:prstGeom prst="ellipse">
            <a:avLst/>
          </a:prstGeom>
          <a:solidFill>
            <a:srgbClr val="0FA3A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SELF-SERVICE DE VM · CLOUDFLARE × AWS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" y="3063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42062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demande en libre-service à la VM AWS sécurisée : SSO, validation, provisioning automatique, snapshots, durcissement réseau et cycle de vie autonome.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 </a:t>
            </a:r>
            <a:pPr indent="0" marL="0">
              <a:buNone/>
            </a:pPr>
            <a:r>
              <a:rPr lang="en-US" sz="13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git-vm-portal.thomas-prudhomme.workers.dev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 la présentation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73736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&amp; le parcours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73736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Pourquoi, et comment ça marche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37360" y="2651760"/>
            <a:ext cx="4114800" cy="0"/>
          </a:xfrm>
          <a:prstGeom prst="line">
            <a:avLst/>
          </a:prstGeom>
          <a:noFill/>
          <a:ln w="12700">
            <a:solidFill>
              <a:srgbClr val="E4EB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81635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1737360" y="2862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stack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737360" y="3273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Worker, D1, AWS, réconciliateur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737360" y="3730752"/>
            <a:ext cx="4114800" cy="0"/>
          </a:xfrm>
          <a:prstGeom prst="line">
            <a:avLst/>
          </a:prstGeom>
          <a:noFill/>
          <a:ln w="12700">
            <a:solidFill>
              <a:srgbClr val="E4EB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89534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1737360" y="39410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&amp; rôles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737360" y="43525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multi-VM, membre / formateur / admin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737360" y="4809744"/>
            <a:ext cx="4114800" cy="0"/>
          </a:xfrm>
          <a:prstGeom prst="line">
            <a:avLst/>
          </a:prstGeom>
          <a:noFill/>
          <a:ln w="12700">
            <a:solidFill>
              <a:srgbClr val="E4EB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97433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1737360" y="50200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737360" y="5431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&amp; restauration EBS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749808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49808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chiffrés &amp; durcissement réseau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498080" y="2651760"/>
            <a:ext cx="4114800" cy="0"/>
          </a:xfrm>
          <a:prstGeom prst="line">
            <a:avLst/>
          </a:prstGeom>
          <a:noFill/>
          <a:ln w="12700">
            <a:solidFill>
              <a:srgbClr val="E4EB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281635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7498080" y="2862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auto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7498080" y="3273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Inactivité · planification · échéance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498080" y="3730752"/>
            <a:ext cx="4114800" cy="0"/>
          </a:xfrm>
          <a:prstGeom prst="line">
            <a:avLst/>
          </a:prstGeom>
          <a:noFill/>
          <a:ln w="12700">
            <a:solidFill>
              <a:srgbClr val="E4EB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0" y="389534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400" dirty="0"/>
          </a:p>
        </p:txBody>
      </p:sp>
      <p:sp>
        <p:nvSpPr>
          <p:cNvPr id="32" name="Text 29"/>
          <p:cNvSpPr/>
          <p:nvPr/>
        </p:nvSpPr>
        <p:spPr>
          <a:xfrm>
            <a:off x="7498080" y="39410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déploiement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498080" y="43525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unifiée, CI/CD Cloudflare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498080" y="4809744"/>
            <a:ext cx="4114800" cy="0"/>
          </a:xfrm>
          <a:prstGeom prst="line">
            <a:avLst/>
          </a:prstGeom>
          <a:noFill/>
          <a:ln w="12700">
            <a:solidFill>
              <a:srgbClr val="E4EB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92240" y="497433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400" dirty="0"/>
          </a:p>
        </p:txBody>
      </p:sp>
      <p:sp>
        <p:nvSpPr>
          <p:cNvPr id="36" name="Text 33"/>
          <p:cNvSpPr/>
          <p:nvPr/>
        </p:nvSpPr>
        <p:spPr>
          <a:xfrm>
            <a:off x="7498080" y="50200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7498080" y="5431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sur la plateforme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: des VM à la demande, sans friction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224028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par e-mail / tickets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manuelle, lente, faillible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suivi des coûts ni des échéances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oubliées qui tournent (et coûtent)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réseau au cas par cas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55080" y="1600200"/>
            <a:ext cx="5193792" cy="4297680"/>
          </a:xfrm>
          <a:prstGeom prst="roundRect">
            <a:avLst>
              <a:gd name="adj" fmla="val 1915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GIT VM PORTAL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75120" y="224028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Libre-service : je demande, je nomme, je choisis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AWS automatique après validation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obligatoires + suppression à l’échéance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auto si inactive, garde-fous de coût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 réseau systématique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parcours, de la connexion à la VM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103120"/>
            <a:ext cx="640080" cy="64008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645920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Microsoft Entra ID (OIDC)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51960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7992" y="210312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2"/>
          <p:cNvSpPr/>
          <p:nvPr/>
        </p:nvSpPr>
        <p:spPr>
          <a:xfrm>
            <a:off x="450799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257800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VM nommées, catalogue + dates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63840" y="18288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19872" y="21031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7"/>
          <p:cNvSpPr/>
          <p:nvPr/>
        </p:nvSpPr>
        <p:spPr>
          <a:xfrm>
            <a:off x="811987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869680" y="21396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3816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 approuve (VM ou groupe)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38862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6112" y="4160520"/>
            <a:ext cx="640080" cy="64008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5" name="Text 22"/>
          <p:cNvSpPr/>
          <p:nvPr/>
        </p:nvSpPr>
        <p:spPr>
          <a:xfrm>
            <a:off x="896112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64592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440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clé chiffrée + durcissement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51960" y="38862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07992" y="416052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0" name="Text 27"/>
          <p:cNvSpPr/>
          <p:nvPr/>
        </p:nvSpPr>
        <p:spPr>
          <a:xfrm>
            <a:off x="4507992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525780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52628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Accès, snapshots, planification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863840" y="3886200"/>
            <a:ext cx="33832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19872" y="4160520"/>
            <a:ext cx="640080" cy="640080"/>
          </a:xfrm>
          <a:prstGeom prst="ellipse">
            <a:avLst/>
          </a:prstGeom>
          <a:solidFill>
            <a:srgbClr val="FF6B5C"/>
          </a:solidFill>
          <a:ln/>
        </p:spPr>
      </p:sp>
      <p:sp>
        <p:nvSpPr>
          <p:cNvPr id="35" name="Text 32"/>
          <p:cNvSpPr/>
          <p:nvPr/>
        </p:nvSpPr>
        <p:spPr>
          <a:xfrm>
            <a:off x="8119872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886968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vie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138160" y="49377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inactivité · suppression échéance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Worker au centre, la DB comme état désiré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287121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49" y="301861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70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54480" y="30358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 19 · assets statiques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06240" y="24688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07408" y="2871216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809" y="3018617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20640" y="30358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 · OIDC · API · cron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0" y="86868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30768" y="106527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169" y="1212677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0" y="1069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(SQLite)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0" y="1435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désiré : demandes, VM, audit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229600" y="205740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30768" y="225399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169" y="2401397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0" y="2258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/ EBS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144000" y="2624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réel (aws4fetch)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229600" y="324612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30768" y="344271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169" y="3590117"/>
            <a:ext cx="272125" cy="27212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44000" y="3447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9144000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arrêt sur inactivité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229600" y="443484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430768" y="4631436"/>
            <a:ext cx="566928" cy="566928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8169" y="4778837"/>
            <a:ext cx="272125" cy="27212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144000" y="4636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 / Grafana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9144000" y="5001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· monitoring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2743200" y="3154680"/>
            <a:ext cx="1463040" cy="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 flipV="1">
            <a:off x="7589520" y="1371600"/>
            <a:ext cx="640080" cy="1600200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 flipV="1">
            <a:off x="7589520" y="2542032"/>
            <a:ext cx="640080" cy="566928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7589520" y="3246120"/>
            <a:ext cx="640080" cy="484632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42" name="Shape 33"/>
          <p:cNvSpPr/>
          <p:nvPr/>
        </p:nvSpPr>
        <p:spPr>
          <a:xfrm>
            <a:off x="7589520" y="3383280"/>
            <a:ext cx="640080" cy="1536192"/>
          </a:xfrm>
          <a:prstGeom prst="line">
            <a:avLst/>
          </a:prstGeom>
          <a:noFill/>
          <a:ln w="25400">
            <a:solidFill>
              <a:srgbClr val="0FA3A3"/>
            </a:solidFill>
            <a:prstDash val="solid"/>
            <a:tailEnd type="triangle"/>
          </a:ln>
        </p:spPr>
      </p:sp>
      <p:sp>
        <p:nvSpPr>
          <p:cNvPr id="43" name="Shape 34"/>
          <p:cNvSpPr/>
          <p:nvPr/>
        </p:nvSpPr>
        <p:spPr>
          <a:xfrm>
            <a:off x="640080" y="4160520"/>
            <a:ext cx="6675120" cy="1737360"/>
          </a:xfrm>
          <a:prstGeom prst="roundRect">
            <a:avLst>
              <a:gd name="adj" fmla="val 473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896112" y="4434840"/>
            <a:ext cx="640080" cy="640080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533" y="4601261"/>
            <a:ext cx="307238" cy="30723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691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réconciliateur (cron */2 min)</a:t>
            </a:r>
            <a:endParaRPr lang="en-US" sz="1500" dirty="0"/>
          </a:p>
        </p:txBody>
      </p:sp>
      <p:sp>
        <p:nvSpPr>
          <p:cNvPr id="47" name="Text 37"/>
          <p:cNvSpPr/>
          <p:nvPr/>
        </p:nvSpPr>
        <p:spPr>
          <a:xfrm>
            <a:off x="1691640" y="4754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 en continu le réel AWS sur la DB : provisioning→active, drift, retry, échéance, inactivité, snapshots.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briques modernes, sans serveur à gérer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· Vite · TypeScript · Tailwind v4 · TanStack Query · i18n FR/EN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Worker (Hono) — API JSON + cron scheduled()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D1 (SQLite) · migrations additives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Entra ID (OIDC), in-Worker, sans librairie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EC2 + EBS + CloudWatch via aws4fetch (eu-central-2)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235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/ CD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Workers Builds : build + migrate + deploy sur main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serveur à administrer · scaling automatique · déploiement par simple merge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PATTERN CENTRAL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réconciliateur : une boucle, toute la logique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DB décrit l’état souhaité. Une cron */2 min rapproche le réel AWS de cet état — idempotent, sans mécanisme parallèle. »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5328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267553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provisioning→active, détection de drift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43400" y="22860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0" y="25328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46" y="2675534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5780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applySchedules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1772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démarrage/arrêt planifiés par VM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46720" y="22860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75320" y="25328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2675534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6112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retryFailed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2104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re-tente les provisioning échoués (max 3)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0080" y="40690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68680" y="431596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4458614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5448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enforceExpiry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1440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auto puis suppression à l’échéance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43400" y="40690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000" y="431596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646" y="4458614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5780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enforceIdleStop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61772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si CPU &lt; 10 % sur 3 h (CloudWatch)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46720" y="40690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275320" y="431596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966" y="4458614"/>
            <a:ext cx="263347" cy="26334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6112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syncSnapshots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32104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les snapshots EBS en cours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VM, de sa naissance à sa suppression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914400" y="3154680"/>
            <a:ext cx="10362895" cy="0"/>
          </a:xfrm>
          <a:prstGeom prst="line">
            <a:avLst/>
          </a:prstGeom>
          <a:noFill/>
          <a:ln w="25400">
            <a:solidFill>
              <a:srgbClr val="C9D6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834640"/>
            <a:ext cx="640080" cy="640080"/>
          </a:xfrm>
          <a:prstGeom prst="ellipse">
            <a:avLst/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Demandée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666939" y="2834640"/>
            <a:ext cx="640080" cy="64008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66939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072579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72579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39518" y="2834640"/>
            <a:ext cx="640080" cy="640080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3951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145158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145158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clé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12097" y="2834640"/>
            <a:ext cx="640080" cy="64008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12097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217737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17737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connectable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884676" y="2834640"/>
            <a:ext cx="640080" cy="640080"/>
          </a:xfrm>
          <a:prstGeom prst="ellipse">
            <a:avLst/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884676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290316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90316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957255" y="2834640"/>
            <a:ext cx="640080" cy="640080"/>
          </a:xfrm>
          <a:prstGeom prst="ellipse">
            <a:avLst/>
          </a:prstGeom>
          <a:solidFill>
            <a:srgbClr val="FF6B5C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957255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0362895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Expirée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362895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supprimée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40080" y="457200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6012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Garde-fous :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de fin obligatoires · extinction nocturne · arrêt sur inactivité · suppression automatique à l’échéance (snapshot auto possible avant) · budget AWS plafonné à 50 $ avec alertes e-mail.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× Stockage × OS, en quelques clics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systèmes au catalogue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6888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3957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· Debian 12 · Amazon Linux 2023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554480" y="2907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9 · AlmaLinux 9 — accès SSH (clé ed25519)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118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5387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 · poste de travail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554480" y="40507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RDP (mot de passe admin chiffré)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960120" y="5029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outils de cours préinstallés (cloud-init / EC2Launch), au choix.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92240" y="1691640"/>
            <a:ext cx="5074920" cy="1307592"/>
          </a:xfrm>
          <a:prstGeom prst="roundRect">
            <a:avLst>
              <a:gd name="adj" fmla="val 6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720840" y="2057400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241" y="2204801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52360" y="1911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× Stockage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452360" y="229514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d’instance et taille de disque combinables.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92240" y="3163824"/>
            <a:ext cx="5074920" cy="1307592"/>
          </a:xfrm>
          <a:prstGeom prst="roundRect">
            <a:avLst>
              <a:gd name="adj" fmla="val 6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720840" y="3529584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241" y="3676985"/>
            <a:ext cx="272125" cy="2721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Multi-VM &amp; groupes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452360" y="37673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4 VM d’un coup ; &gt;1 ⇒ groupe piloté ensemble.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492240" y="4636008"/>
            <a:ext cx="5074920" cy="1307592"/>
          </a:xfrm>
          <a:prstGeom prst="roundRect">
            <a:avLst>
              <a:gd name="adj" fmla="val 6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720840" y="5001768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241" y="5149169"/>
            <a:ext cx="272125" cy="2721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452360" y="4855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obligatoire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7452360" y="523951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AWS « nom.préfixe-email » (ex. python.thomas.prudhomme).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niveaux, dont un rôle formateur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6916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12355B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2286000"/>
            <a:ext cx="3520440" cy="36576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" y="19019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04825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005840" y="29260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et gère ses VM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Accès, snapshots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par VM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361688" y="16916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61688" y="16916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0FA3A3"/>
          </a:solidFill>
          <a:ln/>
        </p:spPr>
      </p:sp>
      <p:sp>
        <p:nvSpPr>
          <p:cNvPr id="17" name="Shape 13"/>
          <p:cNvSpPr/>
          <p:nvPr/>
        </p:nvSpPr>
        <p:spPr>
          <a:xfrm>
            <a:off x="4361688" y="2286000"/>
            <a:ext cx="3520440" cy="365760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18" name="Shape 14"/>
          <p:cNvSpPr/>
          <p:nvPr/>
        </p:nvSpPr>
        <p:spPr>
          <a:xfrm>
            <a:off x="4727448" y="19019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04825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13248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4727448" y="29260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membre, plus :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« Demande groupée »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1–30 VM attribuées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083296" y="16916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83296" y="169164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FF6B5C"/>
          </a:solidFill>
          <a:ln/>
        </p:spPr>
      </p:sp>
      <p:sp>
        <p:nvSpPr>
          <p:cNvPr id="24" name="Shape 19"/>
          <p:cNvSpPr/>
          <p:nvPr/>
        </p:nvSpPr>
        <p:spPr>
          <a:xfrm>
            <a:off x="8083296" y="2286000"/>
            <a:ext cx="3520440" cy="365760"/>
          </a:xfrm>
          <a:prstGeom prst="rect">
            <a:avLst/>
          </a:prstGeom>
          <a:solidFill>
            <a:srgbClr val="FF6B5C"/>
          </a:solidFill>
          <a:ln/>
        </p:spPr>
      </p:sp>
      <p:sp>
        <p:nvSpPr>
          <p:cNvPr id="25" name="Shape 20"/>
          <p:cNvSpPr/>
          <p:nvPr/>
        </p:nvSpPr>
        <p:spPr>
          <a:xfrm>
            <a:off x="8449056" y="19019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04825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34856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8449056" y="29260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tout (VM / groupe)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VM unifiée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rôles · accès formateur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40080" y="51663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960120" y="532180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groupée : </a:t>
            </a:r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round-robin (10 VM / 5 utilisateurs = 2 chacun), chaque VM au nom de l’utilisateur, validation admin obligatoire.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EBS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Sauvegarder, restaurer, nettoyer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777240" y="2194560"/>
            <a:ext cx="2468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00200" y="2514600"/>
            <a:ext cx="822960" cy="82296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170" y="272857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6012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EBS du disque racine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91840" y="3246120"/>
            <a:ext cx="320040" cy="0"/>
          </a:xfrm>
          <a:prstGeom prst="line">
            <a:avLst/>
          </a:prstGeom>
          <a:noFill/>
          <a:ln w="25400">
            <a:solidFill>
              <a:srgbClr val="C9D6D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657600" y="2194560"/>
            <a:ext cx="2468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80560" y="2514600"/>
            <a:ext cx="822960" cy="82296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30" y="27285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76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84048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avant suppression / expiration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246120"/>
            <a:ext cx="320040" cy="0"/>
          </a:xfrm>
          <a:prstGeom prst="line">
            <a:avLst/>
          </a:prstGeom>
          <a:noFill/>
          <a:ln w="25400">
            <a:solidFill>
              <a:srgbClr val="C9D6DF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537960" y="2194560"/>
            <a:ext cx="2468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60920" y="251460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890" y="272857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Restaurer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72084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une VM depuis un snapshot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052560" y="3246120"/>
            <a:ext cx="320040" cy="0"/>
          </a:xfrm>
          <a:prstGeom prst="line">
            <a:avLst/>
          </a:prstGeom>
          <a:noFill/>
          <a:ln w="25400">
            <a:solidFill>
              <a:srgbClr val="C9D6DF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9418320" y="2194560"/>
            <a:ext cx="2468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241280" y="2514600"/>
            <a:ext cx="822960" cy="822960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5250" y="2728570"/>
            <a:ext cx="395021" cy="39502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183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960120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demande ou en cascade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0080" y="484632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960120" y="5029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: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EBS natif (fiable, rapide). L’export local VMware/VirtualBox a été retiré — non fiable hors AWS (ADR 0009).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· ACCÈS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accès chiffrés, propres à chaque VM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541" y="21323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— SSH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051560" y="27432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 ed25519 générée par VM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privée chiffrée AES-GCM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Remise au seul propriétaire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55080" y="16916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75120" y="196596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541" y="21323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RDP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766560" y="27432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admin via UserData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 au repos, port 3389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de connexion intégrés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425196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EAF3F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6012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aussi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60120" y="4983480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510235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83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côté Cloudflare (Wrangler)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703320" y="4983480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510235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251960" y="4983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AES-GCM au repos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46520" y="4983480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510235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95160" y="4983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aucun mot de passe stocké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9189720" y="4983480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92" y="5102352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738360" y="4983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d’audit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· RÉSEAU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69494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 réseau, en deux couches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utilisateur root peut défaire ce qui est dans la VM → la vraie barrière est au réseau.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423160"/>
            <a:ext cx="566928" cy="56692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257056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323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VM — défense en profondeur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6012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forcé → Cloudflare for Families (adulte + malware)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des ports torrent / P2P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verrouillé (anti-renommage)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0" y="214884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FF6B5C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0" y="24231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201" y="257056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4323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réseau — non contournable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46520" y="3200400"/>
            <a:ext cx="4892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du Security Group en liste blanche (default-deny)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53 autorisé uniquement vers Cloudflare → filtrage imposé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Torrents / P2P / sites X bloqués, même pour un root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 tourne tout seul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90472" y="2286000"/>
            <a:ext cx="914400" cy="914400"/>
          </a:xfrm>
          <a:prstGeom prst="ellipse">
            <a:avLst/>
          </a:prstGeom>
          <a:solidFill>
            <a:srgbClr val="12355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25237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38328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inactivité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41248" y="379476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&lt; 10 % sur 3 h → stop (CloudWatch). Relançable.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29000" y="19202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79392" y="2286000"/>
            <a:ext cx="914400" cy="91440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25237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29000" y="338328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3630168" y="379476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/ extinction par VM (jours + horaires).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19202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68312" y="2286000"/>
            <a:ext cx="914400" cy="9144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52374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338328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419088" y="379476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auto possible, puis suppression.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006840" y="19202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857232" y="2286000"/>
            <a:ext cx="914400" cy="914400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252374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06840" y="338328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Garde-fous coût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9208008" y="379476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nocturne + budget 50 $ avec alertes.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pPr algn="ctr" indent="0" marL="0">
              <a:buNone/>
            </a:pPr>
            <a:r>
              <a:rPr lang="en-US" sz="14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VM oubliée, pas de coût qui dérape — l’infrastructure se gère elle-même.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MONITORING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piloter depuis une console unifiée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6355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console pour tout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05840" y="251460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633472"/>
            <a:ext cx="146304" cy="1463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47802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+ machines fusionnées en un onglet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005840" y="3054096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3172968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0175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cartes : groupe ou VM seule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1005840" y="3593592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3712464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55701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cycle de vie inline (start/stop/terminate)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1005840" y="4133088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4251960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54480" y="409651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rôles en un clic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1005840" y="4672584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791456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54480" y="463600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· filtres · pagination · export CSV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1005840" y="5212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12" y="5330952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554480" y="517550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d’audit des actions sensibles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7269480" y="1691640"/>
            <a:ext cx="4297680" cy="4206240"/>
          </a:xfrm>
          <a:prstGeom prst="roundRect">
            <a:avLst>
              <a:gd name="adj" fmla="val 195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7589520" y="201168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5941" y="2178101"/>
            <a:ext cx="307238" cy="30723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5895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Grafana</a:t>
            </a:r>
            <a:endParaRPr lang="en-US" sz="1900" dirty="0"/>
          </a:p>
        </p:txBody>
      </p:sp>
      <p:sp>
        <p:nvSpPr>
          <p:cNvPr id="32" name="Text 22"/>
          <p:cNvSpPr/>
          <p:nvPr/>
        </p:nvSpPr>
        <p:spPr>
          <a:xfrm>
            <a:off x="7589520" y="3383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coûts · VM · logs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/api/monitoring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budget AWS par e-mail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= merger sur main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27632" y="22860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7"/>
          <p:cNvSpPr/>
          <p:nvPr/>
        </p:nvSpPr>
        <p:spPr>
          <a:xfrm>
            <a:off x="1627632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34290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+ vérifs (typecheck, build)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73552" y="3017520"/>
            <a:ext cx="128016" cy="0"/>
          </a:xfrm>
          <a:prstGeom prst="line">
            <a:avLst/>
          </a:prstGeom>
          <a:noFill/>
          <a:ln w="25400">
            <a:solidFill>
              <a:srgbClr val="C9D6D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19856" y="201168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07408" y="22860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3"/>
          <p:cNvSpPr/>
          <p:nvPr/>
        </p:nvSpPr>
        <p:spPr>
          <a:xfrm>
            <a:off x="440740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557016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sur main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3602736" y="34290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Cloudflare Workers Builds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017520"/>
            <a:ext cx="128016" cy="0"/>
          </a:xfrm>
          <a:prstGeom prst="line">
            <a:avLst/>
          </a:prstGeom>
          <a:noFill/>
          <a:ln w="25400">
            <a:solidFill>
              <a:srgbClr val="C9D6D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199632" y="201168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187184" y="22860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2" name="Text 19"/>
          <p:cNvSpPr/>
          <p:nvPr/>
        </p:nvSpPr>
        <p:spPr>
          <a:xfrm>
            <a:off x="718718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336792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+ Deploy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382512" y="34290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D1 remote, puis deploy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833104" y="3017520"/>
            <a:ext cx="128016" cy="0"/>
          </a:xfrm>
          <a:prstGeom prst="line">
            <a:avLst/>
          </a:prstGeom>
          <a:noFill/>
          <a:ln w="25400">
            <a:solidFill>
              <a:srgbClr val="C9D6DF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979408" y="201168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966960" y="2286000"/>
            <a:ext cx="640080" cy="6400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8" name="Text 25"/>
          <p:cNvSpPr/>
          <p:nvPr/>
        </p:nvSpPr>
        <p:spPr>
          <a:xfrm>
            <a:off x="9966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116568" y="306324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9162288" y="342900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 /healthz et /api/presets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44805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960120" y="47091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« wrangler deploy » manuel.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applique les migrations avant le déploiement. Les branches non-prod ne déploient rien.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0FA3A3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17320" y="6949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d’un coup d’œil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32688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au catalogue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1688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36008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4654296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(dont formateur)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83296" y="173736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57616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8375904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par demande groupée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*/2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932688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: cron de réconciliation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361688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36008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4600" dirty="0"/>
          </a:p>
        </p:txBody>
      </p:sp>
      <p:sp>
        <p:nvSpPr>
          <p:cNvPr id="22" name="Text 19"/>
          <p:cNvSpPr/>
          <p:nvPr/>
        </p:nvSpPr>
        <p:spPr>
          <a:xfrm>
            <a:off x="4654296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arrêt sur inactivité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083296" y="374904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57616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50 $</a:t>
            </a:r>
            <a:endParaRPr lang="en-US" sz="4600" dirty="0"/>
          </a:p>
        </p:txBody>
      </p:sp>
      <p:sp>
        <p:nvSpPr>
          <p:cNvPr id="25" name="Text 22"/>
          <p:cNvSpPr/>
          <p:nvPr/>
        </p:nvSpPr>
        <p:spPr>
          <a:xfrm>
            <a:off x="8375904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budget AWS + alertes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2355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FF6B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774497"/>
            <a:ext cx="416966" cy="4169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737360" y="868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de jouer — parcours sur la plateforme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2176272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08760" y="20665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SSO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508760" y="2450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en Microsoft Entra ID.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0528" y="2176272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4" name="Text 11"/>
          <p:cNvSpPr/>
          <p:nvPr/>
        </p:nvSpPr>
        <p:spPr>
          <a:xfrm>
            <a:off x="6510528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78040" y="20665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VM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178040" y="2450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Nommer, choisir OS / perf / dates, justifier.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127248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1248" y="338328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08760" y="32735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(admin)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50876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la demande dans la console VM.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309360" y="3127248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10528" y="3383280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4" name="Text 21"/>
          <p:cNvSpPr/>
          <p:nvPr/>
        </p:nvSpPr>
        <p:spPr>
          <a:xfrm>
            <a:off x="651052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178040" y="32735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17804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active → clé SSH (Linux) ou RDP (Windows).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4334256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41248" y="45902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9" name="Text 26"/>
          <p:cNvSpPr/>
          <p:nvPr/>
        </p:nvSpPr>
        <p:spPr>
          <a:xfrm>
            <a:off x="841248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508760" y="4480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50876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Snapshots → créer une sauvegarde EBS.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309360" y="4334256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510528" y="4590288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4" name="Text 31"/>
          <p:cNvSpPr/>
          <p:nvPr/>
        </p:nvSpPr>
        <p:spPr>
          <a:xfrm>
            <a:off x="6510528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178040" y="44805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groupée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717804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Formateur : créer un lot, répartir sur des users.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40080" y="5541264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41248" y="5797296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39" name="Text 36"/>
          <p:cNvSpPr/>
          <p:nvPr/>
        </p:nvSpPr>
        <p:spPr>
          <a:xfrm>
            <a:off x="841248" y="5797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508760" y="5687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1508760" y="6071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DNS filtré + blocage (durcissement).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309360" y="5541264"/>
            <a:ext cx="5440680" cy="1060704"/>
          </a:xfrm>
          <a:prstGeom prst="roundRect">
            <a:avLst>
              <a:gd name="adj" fmla="val 6897"/>
            </a:avLst>
          </a:prstGeom>
          <a:solidFill>
            <a:srgbClr val="12355B"/>
          </a:solidFill>
          <a:ln/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510528" y="5797296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4" name="Text 41"/>
          <p:cNvSpPr/>
          <p:nvPr/>
        </p:nvSpPr>
        <p:spPr>
          <a:xfrm>
            <a:off x="6510528" y="5797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7178040" y="5687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7178040" y="6071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/ arrêt inactivité / échéance.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011680"/>
            <a:ext cx="5943600" cy="5943600"/>
          </a:xfrm>
          <a:prstGeom prst="ellipse">
            <a:avLst/>
          </a:prstGeom>
          <a:solidFill>
            <a:srgbClr val="12355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0FA3A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VM Portal — self-service, automatisé, sécurisé, sur Cloudflare × AWS.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</a:t>
            </a:r>
            <a:pPr indent="0" marL="0">
              <a:buNone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git-vm-portal.thomas-prudhomme.workers.dev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: </a:t>
            </a:r>
            <a:pPr indent="0" marL="0">
              <a:buNone/>
            </a:pPr>
            <a:r>
              <a:rPr lang="en-US" sz="14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(référence canonique) · ADR 0001 → 0009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VM Portal — Présentation</dc:title>
  <dc:subject>PptxGenJS Presentation</dc:subject>
  <dc:creator>GIT VM Portal</dc:creator>
  <cp:lastModifiedBy>GIT VM Portal</cp:lastModifiedBy>
  <cp:revision>1</cp:revision>
  <dcterms:created xsi:type="dcterms:W3CDTF">2026-06-23T11:47:06Z</dcterms:created>
  <dcterms:modified xsi:type="dcterms:W3CDTF">2026-06-23T11:47:06Z</dcterms:modified>
</cp:coreProperties>
</file>